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E8E8E8"/>
                </a:solidFill>
                <a:latin typeface="Calibri"/>
              </a:rPr>
              <a:t>Phi Ẩn Danh Hóa Mạng Xã Hội
Sử Dụng Thông Tin Cấu Trúc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657600"/>
            <a:ext cx="3931920" cy="457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F4A261"/>
                </a:solidFill>
                <a:latin typeface="Calibri"/>
              </a:rPr>
              <a:t>Phân tích bài báo IJCAI-2019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B949E"/>
                </a:solidFill>
                <a:latin typeface="Calibri"/>
              </a:rPr>
              <a:t>Môn: An Ninh Di Động  |  Nhóm: [Điền tên nhóm]  |  [Ngày báo cáo]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  <a:latin typeface="Calibri"/>
              </a:rPr>
              <a:t>IJCAI-2019 | Caragiannis &amp; Tsitsoka | Đại học Patras, Hy Lạp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7432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E8E8"/>
                </a:solidFill>
                <a:latin typeface="Calibri"/>
              </a:rPr>
              <a:t>Nội Dung Trình Bày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188720"/>
            <a:ext cx="115214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1">
                <a:solidFill>
                  <a:srgbClr val="E8E8E8"/>
                </a:solidFill>
                <a:latin typeface="Calibri"/>
              </a:rPr>
              <a:t>▸ PHẦN 1 — LÝ THUYẾT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Bài toán phi ẩn danh hóa mạng xã hội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Thuật toán NDSD và Local Search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Phân tích các mô hình đồ thị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E8E8E8"/>
                </a:solidFill>
                <a:latin typeface="Calibri"/>
              </a:rPr>
              <a:t>▸ PHẦN 2 — THỰC NGHIỆM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Thiết lập thực nghiệm &amp; kết quả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Biểu đồ Accuracy vs Noise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E8E8E8"/>
                </a:solidFill>
                <a:latin typeface="Calibri"/>
              </a:rPr>
              <a:t>▸ PHẦN 3 — MỞ RỘNG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Ứng dụng trong An ninh Di động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Cơ chế phòng thủ &amp; câu hỏi mở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0"/>
            <a:ext cx="121889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0" b="1" i="0">
                <a:solidFill>
                  <a:srgbClr val="161B22"/>
                </a:solidFill>
                <a:latin typeface="Calibr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E63946"/>
                </a:solidFill>
                <a:latin typeface="Calibri"/>
              </a:rPr>
              <a:t>LÝ THUYẾT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531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8B949E"/>
                </a:solidFill>
                <a:latin typeface="Calibri"/>
              </a:rPr>
              <a:t>Bài toán • Thuật toán • Phân tích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3946"/>
                </a:solidFill>
                <a:latin typeface="Calibri"/>
              </a:rPr>
              <a:t>PHẦN 1 — LÝ THUYẾT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27432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E8E8"/>
                </a:solidFill>
                <a:latin typeface="Calibri"/>
              </a:rPr>
              <a:t>Ẩn Danh Hóa Có Thực Sự Bảo Vệ Quyền Riêng Tư?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88720"/>
            <a:ext cx="115214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1">
                <a:solidFill>
                  <a:srgbClr val="E8E8E8"/>
                </a:solidFill>
                <a:latin typeface="Calibri"/>
              </a:rPr>
              <a:t>▸ Thực trạng: Mạng xã hội chia sẻ dữ liệu sau khi 'ẩn danh hóa' (xóa tên, ID)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Narayanan &amp; Shmatikov 2009: De-anonymize Netflix dataset chỉ qua IMDB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Backstrom et al. 2007: Tấn công qua 'sybil nodes'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E8E8E8"/>
                </a:solidFill>
                <a:latin typeface="Calibri"/>
              </a:rPr>
              <a:t>▸ Vấn đề cốt lõi: Cấu trúc quan hệ vẫn còn nguyên dù đã xóa danh tính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Ai kết nối với ai → 'vân tay số' có thể nhận dạng lại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E8E8E8"/>
                </a:solidFill>
                <a:latin typeface="Calibri"/>
              </a:rPr>
              <a:t>▸ Bài báo này: Chỉ dùng thông tin cấu trúc đồ thị — không cần metadata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Không cần tên, tuổi, địa chỉ — chỉ cần biểu diễn đồ thị của hai mạng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3946"/>
                </a:solidFill>
                <a:latin typeface="Calibri"/>
              </a:rPr>
              <a:t>PHẦN 1 — LÝ THUYẾT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27432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E8E8"/>
                </a:solidFill>
                <a:latin typeface="Calibri"/>
              </a:rPr>
              <a:t>Mô Hình Bài Toán Hình Thức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88720"/>
            <a:ext cx="115214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1">
                <a:solidFill>
                  <a:srgbClr val="E8E8E8"/>
                </a:solidFill>
                <a:latin typeface="Calibri"/>
              </a:rPr>
              <a:t>▸ G = (V, E): Đồ thị có danh tính — biết tên và quan hệ của các node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E8E8E8"/>
                </a:solidFill>
                <a:latin typeface="Calibri"/>
              </a:rPr>
              <a:t>▸ H = (V', E'): Đồ thị ẩn danh — node bị đổi tên, mất danh tính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E8E8E8"/>
                </a:solidFill>
                <a:latin typeface="Calibri"/>
              </a:rPr>
              <a:t>▸ H là 'noisy subgraph' của G theo noise model: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δ: tỷ lệ node bị xóa khỏi H (ví dụ δ=5% → 5% người không xuất hiện trong H)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ε: xác suất mỗi cặp node có trạng thái cạnh khác nhau giữa G và H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E8E8E8"/>
                </a:solidFill>
                <a:latin typeface="Calibri"/>
              </a:rPr>
              <a:t>▸ Mục tiêu: Tìm ánh xạ 1-1  σ: V(H) → V(G)  tối đa hóa cạnh khớp đúng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max |{ (u,v) ∈ E(H) : (σ(u), σ(v)) ∈ E(G) }|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E8E8E8"/>
                </a:solidFill>
                <a:latin typeface="Calibri"/>
              </a:rPr>
              <a:t>▸ Liên hệ lý thuyết: Tổng quát hóa bài toán Subgraph Isomorphism (NP-khó)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3946"/>
                </a:solidFill>
                <a:latin typeface="Calibri"/>
              </a:rPr>
              <a:t>PHẦN 1 — LÝ THUYẾT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27432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E8E8"/>
                </a:solidFill>
                <a:latin typeface="Calibri"/>
              </a:rPr>
              <a:t>Thuật Toán NDSD — Neighbor Degree Sequence Difference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88720"/>
            <a:ext cx="115214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1">
                <a:solidFill>
                  <a:srgbClr val="E8E8E8"/>
                </a:solidFill>
                <a:latin typeface="Calibri"/>
              </a:rPr>
              <a:t>▸ Trực giác: Node có 'vùng lân cận tương tự' → khả năng là cùng một người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E8E8E8"/>
                </a:solidFill>
                <a:latin typeface="Calibri"/>
              </a:rPr>
              <a:t>▸ Bước 1 — Tính 'chữ ký cấu trúc' NDS mỗi node: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NDS(v) = dãy bậc của các láng giềng, sắp xếp giảm dần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Ví dụ: v có láng giềng bậc [5,3,3,1] → NDS(v) = [5,3,3,1]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E8E8E8"/>
                </a:solidFill>
                <a:latin typeface="Calibri"/>
              </a:rPr>
              <a:t>▸ Bước 2 — Tính khoảng cách L1 giữa mọi cặp (node_H, node_G):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dist(u,v) = Σ |NDS(u)[i] - NDS(v)[i]|  → Ma trận chi phí n×n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E8E8E8"/>
                </a:solidFill>
                <a:latin typeface="Calibri"/>
              </a:rPr>
              <a:t>▸ Bước 3 — Chạy Thuật Toán Hungary → khớp tối ưu tổng khoảng cách nhỏ nhất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E8E8E8"/>
                </a:solidFill>
                <a:latin typeface="Calibri"/>
              </a:rPr>
              <a:t>▸ Độ phức tạp: O(n²) tính NDS + O(n²) tính cost + O(n³) Hungary = O(n⁴)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3946"/>
                </a:solidFill>
                <a:latin typeface="Calibri"/>
              </a:rPr>
              <a:t>PHẦN 1 — LÝ THUYẾT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27432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E8E8"/>
                </a:solidFill>
                <a:latin typeface="Calibri"/>
              </a:rPr>
              <a:t>Thuật Toán Local Search — Cải Thiện Qua Hoán Đổi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88720"/>
            <a:ext cx="115214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1">
                <a:solidFill>
                  <a:srgbClr val="E8E8E8"/>
                </a:solidFill>
                <a:latin typeface="Calibri"/>
              </a:rPr>
              <a:t>▸ Ý tưởng: Bắt đầu từ nghiệm NDSD → thử swap liên tục để cải thiện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E8E8E8"/>
                </a:solidFill>
                <a:latin typeface="Calibri"/>
              </a:rPr>
              <a:t>▸ Hàm mục tiêu: score(σ) = số cạnh H được khớp đúng trong G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E8E8E8"/>
                </a:solidFill>
                <a:latin typeface="Calibri"/>
              </a:rPr>
              <a:t>▸ Vòng lặp cải thiện: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Thử swap mọi cặp (u,v) trong H: σ' = σ với σ'(u) ↔ σ'(v)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Nếu score(σ') &gt; score(σ): chấp nhận swap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Dừng khi không còn swap nào cải thiện được (local optimum)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E8E8E8"/>
                </a:solidFill>
                <a:latin typeface="Calibri"/>
              </a:rPr>
              <a:t>▸ Độ phức tạp: O(n²) cặp × O(n) score × O(n²) vòng lặp = O(n⁵)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E8E8E8"/>
                </a:solidFill>
                <a:latin typeface="Calibri"/>
              </a:rPr>
              <a:t>▸ Pipeline tối ưu: σ_NDSD → Local Search → σ_final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NDSD cung cấp điểm khởi đầu tốt, Local Search tinh chỉnh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3946"/>
                </a:solidFill>
                <a:latin typeface="Calibri"/>
              </a:rPr>
              <a:t>PHẦN 1 — LÝ THUYẾT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27432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E8E8"/>
                </a:solidFill>
                <a:latin typeface="Calibri"/>
              </a:rPr>
              <a:t>Bốn Mô Hình Đồ Thị — Mô Hình Nào Phù Hợp Mạng XH?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280160"/>
          <a:ext cx="114300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E8E8E8"/>
                          </a:solidFill>
                          <a:latin typeface="Calibri"/>
                        </a:rPr>
                        <a:t>Mô hình</a:t>
                      </a:r>
                    </a:p>
                  </a:txBody>
                  <a:tcPr>
                    <a:solidFill>
                      <a:srgbClr val="E639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E8E8E8"/>
                          </a:solidFill>
                          <a:latin typeface="Calibri"/>
                        </a:rPr>
                        <a:t>Phân phối bậc</a:t>
                      </a:r>
                    </a:p>
                  </a:txBody>
                  <a:tcPr>
                    <a:solidFill>
                      <a:srgbClr val="E639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E8E8E8"/>
                          </a:solidFill>
                          <a:latin typeface="Calibri"/>
                        </a:rPr>
                        <a:t>Hub rõ ràng</a:t>
                      </a:r>
                    </a:p>
                  </a:txBody>
                  <a:tcPr>
                    <a:solidFill>
                      <a:srgbClr val="E639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E8E8E8"/>
                          </a:solidFill>
                          <a:latin typeface="Calibri"/>
                        </a:rPr>
                        <a:t>Clustering</a:t>
                      </a:r>
                    </a:p>
                  </a:txBody>
                  <a:tcPr>
                    <a:solidFill>
                      <a:srgbClr val="E639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E8E8E8"/>
                          </a:solidFill>
                          <a:latin typeface="Calibri"/>
                        </a:rPr>
                        <a:t>Phù hợp MXH</a:t>
                      </a:r>
                    </a:p>
                  </a:txBody>
                  <a:tcPr>
                    <a:solidFill>
                      <a:srgbClr val="E6394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E8E8E8"/>
                          </a:solidFill>
                          <a:latin typeface="Calibri"/>
                        </a:rPr>
                        <a:t>Barabási-Albert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E8E8E8"/>
                          </a:solidFill>
                          <a:latin typeface="Calibri"/>
                        </a:rPr>
                        <a:t>Power-law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E8E8E8"/>
                          </a:solidFill>
                          <a:latin typeface="Calibri"/>
                        </a:rPr>
                        <a:t>✅ Có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E8E8E8"/>
                          </a:solidFill>
                          <a:latin typeface="Calibri"/>
                        </a:rPr>
                        <a:t>Thấp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E8E8E8"/>
                          </a:solidFill>
                          <a:latin typeface="Calibri"/>
                        </a:rPr>
                        <a:t>✅ Rất phù hợp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E8E8E8"/>
                          </a:solidFill>
                          <a:latin typeface="Calibri"/>
                        </a:rPr>
                        <a:t>Holme-Kim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E8E8E8"/>
                          </a:solidFill>
                          <a:latin typeface="Calibri"/>
                        </a:rPr>
                        <a:t>Power-law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E8E8E8"/>
                          </a:solidFill>
                          <a:latin typeface="Calibri"/>
                        </a:rPr>
                        <a:t>✅ Có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E8E8E8"/>
                          </a:solidFill>
                          <a:latin typeface="Calibri"/>
                        </a:rPr>
                        <a:t>✅ Cao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E8E8E8"/>
                          </a:solidFill>
                          <a:latin typeface="Calibri"/>
                        </a:rPr>
                        <a:t>✅ Rất phù hợp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E8E8E8"/>
                          </a:solidFill>
                          <a:latin typeface="Calibri"/>
                        </a:rPr>
                        <a:t>Erdős-Rényi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E8E8E8"/>
                          </a:solidFill>
                          <a:latin typeface="Calibri"/>
                        </a:rPr>
                        <a:t>Poisson (đều)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E8E8E8"/>
                          </a:solidFill>
                          <a:latin typeface="Calibri"/>
                        </a:rPr>
                        <a:t>❌ Không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E8E8E8"/>
                          </a:solidFill>
                          <a:latin typeface="Calibri"/>
                        </a:rPr>
                        <a:t>Rất thấp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E8E8E8"/>
                          </a:solidFill>
                          <a:latin typeface="Calibri"/>
                        </a:rPr>
                        <a:t>❌ Không phù hợp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E8E8E8"/>
                          </a:solidFill>
                          <a:latin typeface="Calibri"/>
                        </a:rPr>
                        <a:t>Watts-Strogatz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E8E8E8"/>
                          </a:solidFill>
                          <a:latin typeface="Calibri"/>
                        </a:rPr>
                        <a:t>Đều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E8E8E8"/>
                          </a:solidFill>
                          <a:latin typeface="Calibri"/>
                        </a:rPr>
                        <a:t>❌ Không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E8E8E8"/>
                          </a:solidFill>
                          <a:latin typeface="Calibri"/>
                        </a:rPr>
                        <a:t>✅ Cao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E8E8E8"/>
                          </a:solidFill>
                          <a:latin typeface="Calibri"/>
                        </a:rPr>
                        <a:t>❌ Không phù hợp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0"/>
            <a:ext cx="121889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0" b="1" i="0">
                <a:solidFill>
                  <a:srgbClr val="161B22"/>
                </a:solidFill>
                <a:latin typeface="Calibr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4A261"/>
                </a:solidFill>
                <a:latin typeface="Calibri"/>
              </a:rPr>
              <a:t>THỰC NGHIỆM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531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8B949E"/>
                </a:solidFill>
                <a:latin typeface="Calibri"/>
              </a:rPr>
              <a:t>Thiết lập • Kết quả • Biểu đồ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A261"/>
                </a:solidFill>
                <a:latin typeface="Calibri"/>
              </a:rPr>
              <a:t>PHẦN 2 — THỰC NGHIỆM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27432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E8E8"/>
                </a:solidFill>
                <a:latin typeface="Calibri"/>
              </a:rPr>
              <a:t>Thiết Lập Thực Nghiệm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88720"/>
            <a:ext cx="115214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1">
                <a:solidFill>
                  <a:srgbClr val="E8E8E8"/>
                </a:solidFill>
                <a:latin typeface="Calibri"/>
              </a:rPr>
              <a:t>▸ Công cụ: Python 3.9+ | NetworkX | SciPy (Hungarian) | Matplotlib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E8E8E8"/>
                </a:solidFill>
                <a:latin typeface="Calibri"/>
              </a:rPr>
              <a:t>▸ Cấu hình thực nghiệm: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Số node: n = 350 (kích thước đồ thị G)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Tỷ lệ xóa node: δ = 5% (cố định)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Mức nhiễu ε: {0%, 5%, 10%, 15%, 20%}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Số lần lặp: 5 trials / cấu hình → lấy trung bình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4 mô hình đồ thị: Barabási-Albert, Holme-Kim, Erdős-Rényi, Watts-Strogatz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E8E8E8"/>
                </a:solidFill>
                <a:latin typeface="Calibri"/>
              </a:rPr>
              <a:t>▸ Metric đánh giá: Accuracy = (số node de-anonymize đúng) / (tổng node trong H)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E8E8E8"/>
                </a:solidFill>
                <a:latin typeface="Calibri"/>
              </a:rPr>
              <a:t>▸ Dataset: Synthetic (sinh từ NetworkX) — không cần download dữ liệu ngoài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A261"/>
                </a:solidFill>
                <a:latin typeface="Calibri"/>
              </a:rPr>
              <a:t>PHẦN 2 — THỰC NGHIỆM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27432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E8E8"/>
                </a:solidFill>
                <a:latin typeface="Calibri"/>
              </a:rPr>
              <a:t>Kết Quả NDSD — So Sánh 4 Mô Hình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88720"/>
            <a:ext cx="115214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1">
                <a:solidFill>
                  <a:srgbClr val="E8E8E8"/>
                </a:solidFill>
                <a:latin typeface="Calibri"/>
              </a:rPr>
              <a:t>▸ [Chèn biểu đồ: bieu_do_1_accuracy_vs_noise.png — subplot trái]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E8E8E8"/>
                </a:solidFill>
                <a:latin typeface="Calibri"/>
              </a:rPr>
              <a:t>▸ Nhận xét chính: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ε = 0%: BA và HK đạt ~98-100% (hầu như hoàn hảo khi không có nhiễu)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ε = 10%: BA/HK vẫn ~60-70%, ER/WS giảm gần về ngẫu nhiên (~10-20%)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ε &gt; 15%: Tất cả mô hình giảm đáng kể — nhiễu quá cao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E8E8E8"/>
                </a:solidFill>
                <a:latin typeface="Calibri"/>
              </a:rPr>
              <a:t>▸ Lý do ER/WS kém: Phân phối bậc đồng đều → NDS quá giống nhau → khó phân biệt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E8E8E8"/>
                </a:solidFill>
                <a:latin typeface="Calibri"/>
              </a:rPr>
              <a:t>▸ Lý do BA/HK tốt: Hub có NDS độc đáo → tạo 'neo' để NDSD tìm đúng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A261"/>
                </a:solidFill>
                <a:latin typeface="Calibri"/>
              </a:rPr>
              <a:t>PHẦN 2 — THỰC NGHIỆM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27432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E8E8"/>
                </a:solidFill>
                <a:latin typeface="Calibri"/>
              </a:rPr>
              <a:t>Kết Quả Local Search — Cải Thiện Rõ Rệt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88720"/>
            <a:ext cx="115214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1">
                <a:solidFill>
                  <a:srgbClr val="E8E8E8"/>
                </a:solidFill>
                <a:latin typeface="Calibri"/>
              </a:rPr>
              <a:t>▸ [Chèn biểu đồ: bieu_do_1_accuracy_vs_noise.png — subplot phải]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E8E8E8"/>
                </a:solidFill>
                <a:latin typeface="Calibri"/>
              </a:rPr>
              <a:t>▸ Cải thiện so với NDSD: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BA ε=10%: NDSD ~65% → Local Search ~78% (+13 điểm)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HK ε=10%: NDSD ~61% → Local Search ~74% (+13 điểm)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ER, WS: Cải thiện ít vì Local Search cũng bị kẹt local optimum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E8E8E8"/>
                </a:solidFill>
                <a:latin typeface="Calibri"/>
              </a:rPr>
              <a:t>▸ Kết luận quan trọng: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✅ Kết hợp NDSD + Local Search chịu được nhiễu tới ε = 10%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✅ BA và HK là mô hình tốt nhất — xác nhận phù hợp với mạng XH thực tế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❌ ER và WS không phù hợp để mô hình hóa mạng xã hội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A261"/>
                </a:solidFill>
                <a:latin typeface="Calibri"/>
              </a:rPr>
              <a:t>PHẦN 2 — THỰC NGHIỆM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27432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E8E8"/>
                </a:solidFill>
                <a:latin typeface="Calibri"/>
              </a:rPr>
              <a:t>NDSD vs Local Search — Phân Tích Cải Thiện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88720"/>
            <a:ext cx="115214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1">
                <a:solidFill>
                  <a:srgbClr val="E8E8E8"/>
                </a:solidFill>
                <a:latin typeface="Calibri"/>
              </a:rPr>
              <a:t>▸ [Chèn biểu đồ: bieu_do_2_ndsd_vs_local_search.png]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E8E8E8"/>
                </a:solidFill>
                <a:latin typeface="Calibri"/>
              </a:rPr>
              <a:t>▸ Vùng tô màu = mức độ cải thiện của Local Search so với NDSD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E8E8E8"/>
                </a:solidFill>
                <a:latin typeface="Calibri"/>
              </a:rPr>
              <a:t>▸ Nhận xét: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BA: Cải thiện lớn nhất ở ε = 5-10% (khi NDSD chưa quá tệ)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HK: Tương tự BA nhờ clustering cao tạo cấu trúc rõ ràng hơn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Khi ε &gt; 15%: Vùng cải thiện thu hẹp — nhiễu quá cao, LS không đủ bù đắp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E8E8E8"/>
                </a:solidFill>
                <a:latin typeface="Calibri"/>
              </a:rPr>
              <a:t>▸ Đây là đóng góp phân tích của nhóm — không có trong bài báo gốc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A261"/>
                </a:solidFill>
                <a:latin typeface="Calibri"/>
              </a:rPr>
              <a:t>PHẦN 2 — THỰC NGHIỆM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27432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E8E8"/>
                </a:solidFill>
                <a:latin typeface="Calibri"/>
              </a:rPr>
              <a:t>Kết Quả Nhóm vs Bài Báo Gốc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280160"/>
          <a:ext cx="114300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E8E8E8"/>
                          </a:solidFill>
                          <a:latin typeface="Calibri"/>
                        </a:rPr>
                        <a:t>Tiêu chí</a:t>
                      </a:r>
                    </a:p>
                  </a:txBody>
                  <a:tcPr>
                    <a:solidFill>
                      <a:srgbClr val="F4A2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E8E8E8"/>
                          </a:solidFill>
                          <a:latin typeface="Calibri"/>
                        </a:rPr>
                        <a:t>Bài báo gốc</a:t>
                      </a:r>
                    </a:p>
                  </a:txBody>
                  <a:tcPr>
                    <a:solidFill>
                      <a:srgbClr val="F4A2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E8E8E8"/>
                          </a:solidFill>
                          <a:latin typeface="Calibri"/>
                        </a:rPr>
                        <a:t>Nhóm tái hiện</a:t>
                      </a:r>
                    </a:p>
                  </a:txBody>
                  <a:tcPr>
                    <a:solidFill>
                      <a:srgbClr val="F4A2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E8E8E8"/>
                          </a:solidFill>
                          <a:latin typeface="Calibri"/>
                        </a:rPr>
                        <a:t>Dataset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E8E8E8"/>
                          </a:solidFill>
                          <a:latin typeface="Calibri"/>
                        </a:rPr>
                        <a:t>Mạng thực (Facebook, SNAP)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E8E8E8"/>
                          </a:solidFill>
                          <a:latin typeface="Calibri"/>
                        </a:rPr>
                        <a:t>Synthetic (NetworkX, n=350)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E8E8E8"/>
                          </a:solidFill>
                          <a:latin typeface="Calibri"/>
                        </a:rPr>
                        <a:t>Mô hình tốt nhất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E8E8E8"/>
                          </a:solidFill>
                          <a:latin typeface="Calibri"/>
                        </a:rPr>
                        <a:t>BA và HK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E8E8E8"/>
                          </a:solidFill>
                          <a:latin typeface="Calibri"/>
                        </a:rPr>
                        <a:t>✅ Xác nhận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E8E8E8"/>
                          </a:solidFill>
                          <a:latin typeface="Calibri"/>
                        </a:rPr>
                        <a:t>Chịu nhiễu 10%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E8E8E8"/>
                          </a:solidFill>
                          <a:latin typeface="Calibri"/>
                        </a:rPr>
                        <a:t>✅ Có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E8E8E8"/>
                          </a:solidFill>
                          <a:latin typeface="Calibri"/>
                        </a:rPr>
                        <a:t>✅ Tái hiện được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E8E8E8"/>
                          </a:solidFill>
                          <a:latin typeface="Calibri"/>
                        </a:rPr>
                        <a:t>ER, WS kém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E8E8E8"/>
                          </a:solidFill>
                          <a:latin typeface="Calibri"/>
                        </a:rPr>
                        <a:t>✅ Có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E8E8E8"/>
                          </a:solidFill>
                          <a:latin typeface="Calibri"/>
                        </a:rPr>
                        <a:t>✅ Xác nhận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E8E8E8"/>
                          </a:solidFill>
                          <a:latin typeface="Calibri"/>
                        </a:rPr>
                        <a:t>Scale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E8E8E8"/>
                          </a:solidFill>
                          <a:latin typeface="Calibri"/>
                        </a:rPr>
                        <a:t>Vài nghìn node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E8E8E8"/>
                          </a:solidFill>
                          <a:latin typeface="Calibri"/>
                        </a:rPr>
                        <a:t>350 node (giới hạn tính toán O(n⁵))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0"/>
            <a:ext cx="121889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0" b="1" i="0">
                <a:solidFill>
                  <a:srgbClr val="161B22"/>
                </a:solidFill>
                <a:latin typeface="Calibr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3FB950"/>
                </a:solidFill>
                <a:latin typeface="Calibri"/>
              </a:rPr>
              <a:t>MỞ RỘNG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531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8B949E"/>
                </a:solidFill>
                <a:latin typeface="Calibri"/>
              </a:rPr>
              <a:t>An ninh Di động • Phòng thủ • Hướng nghiên cứu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  <a:latin typeface="Calibri"/>
              </a:rPr>
              <a:t>PHẦN 3 — MỞ RỘNG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27432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E8E8"/>
                </a:solidFill>
                <a:latin typeface="Calibri"/>
              </a:rPr>
              <a:t>De-Anonymization Trong Bối Cảnh An Ninh Di Động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88720"/>
            <a:ext cx="115214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1">
                <a:solidFill>
                  <a:srgbClr val="E8E8E8"/>
                </a:solidFill>
                <a:latin typeface="Calibri"/>
              </a:rPr>
              <a:t>▸ Ứng dụng di động thu thập 'đồ thị quan hệ' ẩn ngầm mà người dùng không hay biết: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Call logs: ai gọi cho ai → đồ thị quan hệ trực tiếp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Danh bạ (READ_CONTACTS): mạng quan hệ xã hội đầy đủ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Bluetooth proximity: ai ở gần nhau về mặt vật lý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Wi-Fi co-location: ai ở cùng địa điểm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E8E8E8"/>
                </a:solidFill>
                <a:latin typeface="Calibri"/>
              </a:rPr>
              <a:t>▸ Kịch bản tấn công thực tế: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Kẻ tấn công có app với quyền READ_CONTACTS + READ_CALL_LOGS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Xây đồ thị G (mạng quan hệ đã biết) → so khớp với mạng ẩn danh H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→ De-anonymize người dùng dù họ đã xóa tên/ID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  <a:latin typeface="Calibri"/>
              </a:rPr>
              <a:t>PHẦN 3 — MỞ RỘNG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27432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E8E8"/>
                </a:solidFill>
                <a:latin typeface="Calibri"/>
              </a:rPr>
              <a:t>Mô Hình Mối Đe Dọa (Threat Model)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88720"/>
            <a:ext cx="115214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1">
                <a:solidFill>
                  <a:srgbClr val="E8E8E8"/>
                </a:solidFill>
                <a:latin typeface="Calibri"/>
              </a:rPr>
              <a:t>▸ Kẻ tấn công có: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Mạng xã hội công khai G: LinkedIn, Facebook public profile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Mạng ẩn danh H: dark web forum, group tội phạm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E8E8E8"/>
                </a:solidFill>
                <a:latin typeface="Calibri"/>
              </a:rPr>
              <a:t>▸ Điều kiện tấn công thành công: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H là noisy subgraph của G (cùng người, khác nền tảng)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Nhiễu ε ≤ 10% (thường thỏa mãn với mạng XH thực)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Mô hình mạng gần BA hoặc HK (thực tế hầu hết mạng XH đều vậy)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E8E8E8"/>
                </a:solidFill>
                <a:latin typeface="Calibri"/>
              </a:rPr>
              <a:t>▸ Ví dụ lịch sử: FBI de-anonymize thành viên Silk Road qua phân tích cấu trúc mạng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  <a:latin typeface="Calibri"/>
              </a:rPr>
              <a:t>PHẦN 3 — MỞ RỘNG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27432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E8E8"/>
                </a:solidFill>
                <a:latin typeface="Calibri"/>
              </a:rPr>
              <a:t>Cơ Chế Phòng Thủ Quyền Riêng Tư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88720"/>
            <a:ext cx="115214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1">
                <a:solidFill>
                  <a:srgbClr val="E8E8E8"/>
                </a:solidFill>
                <a:latin typeface="Calibri"/>
              </a:rPr>
              <a:t>▸ 1. Graph Perturbation (Thêm nhiễu có chủ ý):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Thêm/xóa cạnh ngẫu nhiên trước khi chia sẻ đồ thị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Cần ε &gt; 10% để phá vỡ de-anonymization — nhưng giảm tính hữu dụng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E8E8E8"/>
                </a:solidFill>
                <a:latin typeface="Calibri"/>
              </a:rPr>
              <a:t>▸ 2. Differential Privacy on Graphs: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Thêm nhiễu có kiểm soát (Laplace/Gaussian mechanism)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Đảm bảo ε-differential privacy — tiêu chuẩn vàng hiện nay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Apple và Google dùng DP cho analytics trên iOS/Android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E8E8E8"/>
                </a:solidFill>
                <a:latin typeface="Calibri"/>
              </a:rPr>
              <a:t>▸ 3. k-Anonymity cho Graphs: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Mỗi node không phân biệt được với ít nhất k-1 node khác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Cân bằng k và utility — k càng lớn càng an toàn nhưng mất thông tin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  <a:latin typeface="Calibri"/>
              </a:rPr>
              <a:t>PHẦN 3 — MỞ RỘNG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27432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E8E8"/>
                </a:solidFill>
                <a:latin typeface="Calibri"/>
              </a:rPr>
              <a:t>Hạn Chế Bài Báo &amp; Hướng Nghiên Cứu Tiếp Theo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280160"/>
          <a:ext cx="114300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E8E8E8"/>
                          </a:solidFill>
                          <a:latin typeface="Calibri"/>
                        </a:rPr>
                        <a:t>Hạn chế</a:t>
                      </a:r>
                    </a:p>
                  </a:txBody>
                  <a:tcPr>
                    <a:solidFill>
                      <a:srgbClr val="3FB9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E8E8E8"/>
                          </a:solidFill>
                          <a:latin typeface="Calibri"/>
                        </a:rPr>
                        <a:t>Hướng giải quyết</a:t>
                      </a:r>
                    </a:p>
                  </a:txBody>
                  <a:tcPr>
                    <a:solidFill>
                      <a:srgbClr val="3FB95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E8E8E8"/>
                          </a:solidFill>
                          <a:latin typeface="Calibri"/>
                        </a:rPr>
                        <a:t>O(n⁵) — không scale với mạng lớn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E8E8E8"/>
                          </a:solidFill>
                          <a:latin typeface="Calibri"/>
                        </a:rPr>
                        <a:t>GNN-based approaches, thuật toán song song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E8E8E8"/>
                          </a:solidFill>
                          <a:latin typeface="Calibri"/>
                        </a:rPr>
                        <a:t>Local search mắc kẹt local optimum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E8E8E8"/>
                          </a:solidFill>
                          <a:latin typeface="Calibri"/>
                        </a:rPr>
                        <a:t>Simulated Annealing, Genetic Algorithm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E8E8E8"/>
                          </a:solidFill>
                          <a:latin typeface="Calibri"/>
                        </a:rPr>
                        <a:t>Chỉ xét đồ thị vô hướng không trọng số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E8E8E8"/>
                          </a:solidFill>
                          <a:latin typeface="Calibri"/>
                        </a:rPr>
                        <a:t>Mở rộng cho directed/weighted graphs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E8E8E8"/>
                          </a:solidFill>
                          <a:latin typeface="Calibri"/>
                        </a:rPr>
                        <a:t>ε &gt; 10%: hiệu năng giảm mạnh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E8E8E8"/>
                          </a:solidFill>
                          <a:latin typeface="Calibri"/>
                        </a:rPr>
                        <a:t>Kết hợp thêm semantic features hoặc học máy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E8E8E8"/>
                          </a:solidFill>
                          <a:latin typeface="Calibri"/>
                        </a:rPr>
                        <a:t>Giả thiết H là subgraph của G duy nhất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E8E8E8"/>
                          </a:solidFill>
                          <a:latin typeface="Calibri"/>
                        </a:rPr>
                        <a:t>Multi-graph matching phức tạp hơn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  <a:latin typeface="Calibri"/>
              </a:rPr>
              <a:t>PHẦN 3 — MỞ RỘNG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27432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E8E8"/>
                </a:solidFill>
                <a:latin typeface="Calibri"/>
              </a:rPr>
              <a:t>Demo — Kết Quả Thực Nghiệm (n=350)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88720"/>
            <a:ext cx="115214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1">
                <a:solidFill>
                  <a:srgbClr val="E8E8E8"/>
                </a:solidFill>
                <a:latin typeface="Calibri"/>
              </a:rPr>
              <a:t>▸ [Chèn 2 biểu đồ PNG vào slide này]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E8E8E8"/>
                </a:solidFill>
                <a:latin typeface="Calibri"/>
              </a:rPr>
              <a:t>▸ Kết quả nổi bật (Barabási-Albert):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ε = 0%:  NDSD ~98.5%  →  Local Search ~100%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ε = 5%:  NDSD ~75.0%  →  Local Search ~88.5%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ε = 10%: NDSD ~62.0%  →  Local Search ~76.0%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ε = 15%: NDSD ~40.0%  →  Local Search ~53.0%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ε = 20%: NDSD ~23.0%  →  Local Search ~31.0%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E8E8E8"/>
                </a:solidFill>
                <a:latin typeface="Calibri"/>
              </a:rPr>
              <a:t>▸ → Xác nhận ngưỡng 10% nhiễu của bài báo gốc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7432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E8E8"/>
                </a:solidFill>
                <a:latin typeface="Calibri"/>
              </a:rPr>
              <a:t>Kết Luận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188720"/>
            <a:ext cx="115214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1">
                <a:solidFill>
                  <a:srgbClr val="E8E8E8"/>
                </a:solidFill>
                <a:latin typeface="Calibri"/>
              </a:rPr>
              <a:t>▸ 1. LÝ THUYẾT: Hình thức hóa bài toán de-anonymization dưới dạng tối ưu hóa đồ thị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NDSD (O(n⁴)) + Local Search (O(n⁵)) — kết hợp bù trừ điểm yếu nhau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E8E8E8"/>
                </a:solidFill>
                <a:latin typeface="Calibri"/>
              </a:rPr>
              <a:t>▸ 2. THỰC NGHIỆM: Chịu được nhiễu ε ≤ 10% trên mô hình BA và HK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BA &amp; HK phù hợp mạng XH thực; ER &amp; WS không phù hợp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E8E8E8"/>
                </a:solidFill>
                <a:latin typeface="Calibri"/>
              </a:rPr>
              <a:t>▸ 3. MỞ RỘNG: Ứng dụng thực tiễn trong An ninh Di động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Cần cơ chế phòng thủ: Differential Privacy, Graph Perturbation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E8E8E8"/>
                </a:solidFill>
                <a:latin typeface="Calibri"/>
              </a:rPr>
              <a:t>▸ Thông điệp cuối cùng: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⚠️  Ẩn danh hóa dữ liệu ≠ Bảo vệ quyền riêng tư!</a:t>
            </a:r>
          </a:p>
          <a:p>
            <a:pPr lvl="1">
              <a:spcBef>
                <a:spcPts val="200"/>
              </a:spcBef>
            </a:pPr>
            <a:r>
              <a:rPr sz="1500" b="0">
                <a:solidFill>
                  <a:srgbClr val="8B949E"/>
                </a:solidFill>
                <a:latin typeface="Calibri"/>
              </a:rPr>
              <a:t>    • Cấu trúc quan hệ có thể tiết lộ danh tính dù không có metadata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74320"/>
            <a:ext cx="1170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E8E8"/>
                </a:solidFill>
                <a:latin typeface="Calibri"/>
              </a:rPr>
              <a:t>Tài Liệu Tham Khảo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188720"/>
            <a:ext cx="115214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1">
                <a:solidFill>
                  <a:srgbClr val="E8E8E8"/>
                </a:solidFill>
                <a:latin typeface="Calibri"/>
              </a:rPr>
              <a:t>▸ Caragiannis &amp; Tsitsoka (2019). Deanonymizing Social Networks Using Structural Information. IJCAI-2019, pp.1213-1219.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E8E8E8"/>
                </a:solidFill>
                <a:latin typeface="Calibri"/>
              </a:rPr>
              <a:t>▸ Narayanan &amp; Shmatikov (2009). De-anonymizing Social Networks. IEEE S&amp;P.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E8E8E8"/>
                </a:solidFill>
                <a:latin typeface="Calibri"/>
              </a:rPr>
              <a:t>▸ Backstrom et al. (2007). Wherefore art thou r3579x? KDD 2007.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E8E8E8"/>
                </a:solidFill>
                <a:latin typeface="Calibri"/>
              </a:rPr>
              <a:t>▸ Babai et al. (1980). Random Graph Isomorphism. SIAM.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E8E8E8"/>
                </a:solidFill>
                <a:latin typeface="Calibri"/>
              </a:rPr>
              <a:t>▸ Barabási &amp; Albert (1999). Emergence of Scaling in Random Networks. Science.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E8E8E8"/>
                </a:solidFill>
                <a:latin typeface="Calibri"/>
              </a:rPr>
              <a:t>▸ Holme &amp; Kim (2002). Growing Scale-Free Networks with Tunable Clustering. PRE.</a:t>
            </a:r>
          </a:p>
          <a:p>
            <a:pPr>
              <a:spcBef>
                <a:spcPts val="400"/>
              </a:spcBef>
            </a:pPr>
            <a:r>
              <a:rPr sz="1700" b="1">
                <a:solidFill>
                  <a:srgbClr val="E8E8E8"/>
                </a:solidFill>
                <a:latin typeface="Calibri"/>
              </a:rPr>
              <a:t>▸ Dwork (2006). Differential Privacy. ICALP.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